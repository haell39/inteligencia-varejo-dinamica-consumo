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8638"/>
            <a:ext cx="4920621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</a:t>
            </a:r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VAREJO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428625" y="2297413"/>
            <a:ext cx="492062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Dados, Logística e Machine Learning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5349246" y="0"/>
            <a:ext cx="3794754" cy="5143500"/>
          </a:xfrm>
          <a:prstGeom prst="rect">
            <a:avLst/>
          </a:prstGeom>
          <a:solidFill>
            <a:srgbClr val="6200EE"/>
          </a:solidFill>
          <a:ln/>
        </p:spPr>
      </p:sp>
      <p:sp>
        <p:nvSpPr>
          <p:cNvPr id="6" name="Text 3"/>
          <p:cNvSpPr/>
          <p:nvPr/>
        </p:nvSpPr>
        <p:spPr>
          <a:xfrm>
            <a:off x="5777871" y="428625"/>
            <a:ext cx="310895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Rafael Dutra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77871" y="809030"/>
            <a:ext cx="310895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AFAFA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do e-commerce brasileiro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AFAFA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AFAFA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(Olist + IPCA/IBGE)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8081"/>
            <a:ext cx="3143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E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3857625" y="842963"/>
            <a:ext cx="4714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MISSÃO PRINCIPAL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3857625" y="1200150"/>
            <a:ext cx="471487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Analisar o impacto da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inflação (IPCA)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falhas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logísticas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Sell-out e na experiência do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consumidor brasileiro.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3857625" y="2397426"/>
            <a:ext cx="4714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 DE DADOS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857625" y="2754613"/>
            <a:ext cx="47148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público da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Olist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combinado com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oficiais do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IBGE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via API em tempo real.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3857625" y="3671860"/>
            <a:ext cx="4714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TEMPORAL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857625" y="4029047"/>
            <a:ext cx="47148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abrangente cobrindo o período de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Janeiro/2016 a Agosto/2018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9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2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0642"/>
            <a:ext cx="87153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METODOLOGIA E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DE DADOS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0" y="2258485"/>
            <a:ext cx="9144000" cy="1055489"/>
          </a:xfrm>
          <a:prstGeom prst="rect">
            <a:avLst/>
          </a:prstGeom>
          <a:solidFill>
            <a:srgbClr val="03DAC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472798"/>
            <a:ext cx="1823442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96.478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2394942" y="2681753"/>
            <a:ext cx="534888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PEDIDOS ENTREGUES ANALISADOS NO ECOSSISTEMA OLIST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3728312"/>
            <a:ext cx="25479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01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4085499"/>
            <a:ext cx="25479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Extração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4456974"/>
            <a:ext cx="254794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Consumo de CSVs brutos da Olist e integração via API REST com a Tabela 1737 do IBGE/SIDRA.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190884" y="3728312"/>
            <a:ext cx="25479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02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190884" y="4085499"/>
            <a:ext cx="25479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Transformação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3190884" y="4456974"/>
            <a:ext cx="254794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Criação de KPIs logísticos, filtro de integridade (delivered) e normalização temporal para join com IPCA.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953144" y="3728312"/>
            <a:ext cx="25479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03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953144" y="4085499"/>
            <a:ext cx="25479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953144" y="4456974"/>
            <a:ext cx="254794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Consolidação em DataFrame analítico único com 19 colunas para exploração e modelagem.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47148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 VS.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INFLAÇÃO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924766"/>
            <a:ext cx="47148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revelou que o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Time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o fator logístico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maior influência na satisfação, superando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 macroeconômicas.</a:t>
            </a:r>
            <a:endParaRPr lang="en-US" sz="1193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053479"/>
            <a:ext cx="4714875" cy="20859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3"/>
          <p:cNvSpPr/>
          <p:nvPr/>
        </p:nvSpPr>
        <p:spPr>
          <a:xfrm>
            <a:off x="6414195" y="1380530"/>
            <a:ext cx="145911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-0,33</a:t>
            </a:r>
            <a:endParaRPr lang="en-US" sz="4145" dirty="0"/>
          </a:p>
        </p:txBody>
      </p:sp>
      <p:sp>
        <p:nvSpPr>
          <p:cNvPr id="8" name="Text 4"/>
          <p:cNvSpPr/>
          <p:nvPr/>
        </p:nvSpPr>
        <p:spPr>
          <a:xfrm>
            <a:off x="6143625" y="2077045"/>
            <a:ext cx="2000250" cy="314325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CORRELAÇÃO LEAD TIME VS SATISFAÇÃO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5572125" y="3421856"/>
            <a:ext cx="3143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AFAFA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evidência de correlação direta entre o IPCA e o volume de vendas no curto prazo. O desempenho é ditado pela eficiência operacional e sazonalidade.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0642"/>
            <a:ext cx="2989659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DISPARIDADE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2115610"/>
            <a:ext cx="298965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"Custo Nordeste" em números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3704034" y="571500"/>
            <a:ext cx="14716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TIME MÉDIO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3704034" y="1300163"/>
            <a:ext cx="147161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17,96 dias</a:t>
            </a:r>
            <a:endParaRPr lang="en-US" sz="4145" dirty="0"/>
          </a:p>
        </p:txBody>
      </p:sp>
      <p:sp>
        <p:nvSpPr>
          <p:cNvPr id="7" name="Text 4"/>
          <p:cNvSpPr/>
          <p:nvPr/>
        </p:nvSpPr>
        <p:spPr>
          <a:xfrm>
            <a:off x="3704034" y="3014663"/>
            <a:ext cx="14716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8,30 dias em São Paulo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47097" y="1359098"/>
            <a:ext cx="1285875" cy="1285875"/>
          </a:xfrm>
          <a:prstGeom prst="ellipse">
            <a:avLst/>
          </a:prstGeom>
          <a:solidFill>
            <a:srgbClr val="03DAC6"/>
          </a:solidFill>
          <a:ln/>
        </p:spPr>
      </p:sp>
      <p:sp>
        <p:nvSpPr>
          <p:cNvPr id="9" name="Text 6"/>
          <p:cNvSpPr/>
          <p:nvPr/>
        </p:nvSpPr>
        <p:spPr>
          <a:xfrm>
            <a:off x="5551587" y="1658243"/>
            <a:ext cx="876895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+116%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5798046" y="2424410"/>
            <a:ext cx="38397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918722" y="571500"/>
            <a:ext cx="158055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FRETE MÉDIO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918722" y="1300163"/>
            <a:ext cx="15805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R$ 35,83</a:t>
            </a:r>
            <a:endParaRPr lang="en-US" sz="4145" dirty="0"/>
          </a:p>
        </p:txBody>
      </p:sp>
      <p:sp>
        <p:nvSpPr>
          <p:cNvPr id="13" name="Text 10"/>
          <p:cNvSpPr/>
          <p:nvPr/>
        </p:nvSpPr>
        <p:spPr>
          <a:xfrm>
            <a:off x="6918722" y="3014663"/>
            <a:ext cx="158055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R$ 17,33 em São Paulo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70727" y="1359098"/>
            <a:ext cx="1285875" cy="1285875"/>
          </a:xfrm>
          <a:prstGeom prst="ellipse">
            <a:avLst/>
          </a:prstGeom>
          <a:solidFill>
            <a:srgbClr val="03DAC6"/>
          </a:solidFill>
          <a:ln/>
        </p:spPr>
      </p:sp>
      <p:sp>
        <p:nvSpPr>
          <p:cNvPr id="15" name="Text 12"/>
          <p:cNvSpPr/>
          <p:nvPr/>
        </p:nvSpPr>
        <p:spPr>
          <a:xfrm>
            <a:off x="8832354" y="1658243"/>
            <a:ext cx="96262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+107%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9133284" y="2424410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704034" y="4061222"/>
            <a:ext cx="6252567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concentração de sellers no Sudeste gera uma desvantagem estrutural severa para o Nordeste, elevando o risco de ruptura e insatisfação.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36922"/>
            <a:ext cx="4143375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IMPACTO DA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RUPTURA LOGÍSTICA</a:t>
            </a:r>
            <a:endParaRPr lang="en-US" sz="2649" dirty="0"/>
          </a:p>
        </p:txBody>
      </p:sp>
      <p:sp>
        <p:nvSpPr>
          <p:cNvPr id="4" name="Shape 1"/>
          <p:cNvSpPr/>
          <p:nvPr/>
        </p:nvSpPr>
        <p:spPr>
          <a:xfrm>
            <a:off x="428625" y="1839906"/>
            <a:ext cx="1857375" cy="1857375"/>
          </a:xfrm>
          <a:prstGeom prst="ellipse">
            <a:avLst/>
          </a:prstGeom>
          <a:solidFill>
            <a:srgbClr val="6200EE"/>
          </a:solidFill>
          <a:ln/>
        </p:spPr>
      </p:sp>
      <p:sp>
        <p:nvSpPr>
          <p:cNvPr id="5" name="Text 2"/>
          <p:cNvSpPr/>
          <p:nvPr/>
        </p:nvSpPr>
        <p:spPr>
          <a:xfrm>
            <a:off x="617934" y="2333718"/>
            <a:ext cx="1478756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-47%</a:t>
            </a:r>
            <a:endParaRPr lang="en-US" sz="4145" dirty="0"/>
          </a:p>
        </p:txBody>
      </p:sp>
      <p:sp>
        <p:nvSpPr>
          <p:cNvPr id="6" name="Text 3"/>
          <p:cNvSpPr/>
          <p:nvPr/>
        </p:nvSpPr>
        <p:spPr>
          <a:xfrm>
            <a:off x="674191" y="3030234"/>
            <a:ext cx="13662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SATISFAÇÃO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3783006"/>
            <a:ext cx="4143375" cy="707231"/>
          </a:xfrm>
          <a:prstGeom prst="rect">
            <a:avLst/>
          </a:prstGeom>
          <a:noFill/>
          <a:ln/>
        </p:spPr>
        <p:txBody>
          <a:bodyPr wrap="square" lIns="0" tIns="0" rIns="340233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atraso na entrega quase divide a nota de satisfação ao meio, sendo o principal destruidor de experiência no e-commerce.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6"/>
          <p:cNvSpPr/>
          <p:nvPr/>
        </p:nvSpPr>
        <p:spPr>
          <a:xfrm>
            <a:off x="5000625" y="600075"/>
            <a:ext cx="41433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NO PRAZO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000625" y="880467"/>
            <a:ext cx="414337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182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4.29</a:t>
            </a:r>
            <a:pPr algn="l" indent="0" marL="0">
              <a:lnSpc>
                <a:spcPts val="5600"/>
              </a:lnSpc>
              <a:buNone/>
            </a:pPr>
            <a:r>
              <a:rPr lang="en-US" sz="2016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5182" dirty="0"/>
          </a:p>
        </p:txBody>
      </p:sp>
      <p:sp>
        <p:nvSpPr>
          <p:cNvPr id="11" name="Text 8"/>
          <p:cNvSpPr/>
          <p:nvPr/>
        </p:nvSpPr>
        <p:spPr>
          <a:xfrm>
            <a:off x="5000625" y="1980605"/>
            <a:ext cx="41433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COM ATRASO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000625" y="2260997"/>
            <a:ext cx="414337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182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2.27</a:t>
            </a:r>
            <a:pPr algn="l" indent="0" marL="0">
              <a:lnSpc>
                <a:spcPts val="5600"/>
              </a:lnSpc>
              <a:buNone/>
            </a:pPr>
            <a:r>
              <a:rPr lang="en-US" sz="2016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518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0642"/>
            <a:ext cx="3298627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SEGMENTAÇÃO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CLIENTES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(RFM)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428625" y="2509382"/>
            <a:ext cx="3298627" cy="1159073"/>
          </a:xfrm>
          <a:prstGeom prst="rect">
            <a:avLst/>
          </a:prstGeom>
          <a:solidFill>
            <a:srgbClr val="6200EE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2723694"/>
            <a:ext cx="2870002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~50%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642938" y="3280907"/>
            <a:ext cx="26146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BASE EM RISCO OU PERDIDA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013002" y="714375"/>
            <a:ext cx="1673675" cy="36075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SEGMENTO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686676" y="714375"/>
            <a:ext cx="935413" cy="36075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622089" y="714375"/>
            <a:ext cx="777218" cy="36075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BASE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399306" y="714375"/>
            <a:ext cx="1316069" cy="36075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 MÉDIO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013002" y="1075134"/>
            <a:ext cx="1673675" cy="382191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Campeões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686676" y="1075134"/>
            <a:ext cx="935413" cy="382191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23.491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622089" y="1075134"/>
            <a:ext cx="777218" cy="382191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25,1%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399306" y="1075134"/>
            <a:ext cx="1316069" cy="382191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R$ 147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013002" y="1457325"/>
            <a:ext cx="1673675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Recentes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686676" y="1457325"/>
            <a:ext cx="935413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23.356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622089" y="1457325"/>
            <a:ext cx="777218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25,0%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7399306" y="1457325"/>
            <a:ext cx="1316069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R$ 138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013002" y="1835944"/>
            <a:ext cx="4702373" cy="378619"/>
          </a:xfrm>
          <a:prstGeom prst="rect">
            <a:avLst/>
          </a:prstGeom>
          <a:solidFill>
            <a:srgbClr val="6200EE">
              <a:alpha val="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013002" y="1835944"/>
            <a:ext cx="1673675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Risco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686676" y="1835944"/>
            <a:ext cx="935413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23.188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622089" y="1835944"/>
            <a:ext cx="777218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24,8%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7399306" y="1835944"/>
            <a:ext cx="1316069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R$ 143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013002" y="2214563"/>
            <a:ext cx="1673675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Potencial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686676" y="2214563"/>
            <a:ext cx="935413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17.423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6622089" y="2214563"/>
            <a:ext cx="777218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18,6%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7399306" y="2214563"/>
            <a:ext cx="1316069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R$ 148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4013002" y="2593181"/>
            <a:ext cx="4702373" cy="378619"/>
          </a:xfrm>
          <a:prstGeom prst="rect">
            <a:avLst/>
          </a:prstGeom>
          <a:solidFill>
            <a:srgbClr val="6200EE">
              <a:alpha val="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013002" y="2593181"/>
            <a:ext cx="1673675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Perdidos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5686676" y="2593181"/>
            <a:ext cx="935413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5.900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6622089" y="2593181"/>
            <a:ext cx="777218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6,3%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7399306" y="2593181"/>
            <a:ext cx="1316069" cy="378619"/>
          </a:xfrm>
          <a:prstGeom prst="rect">
            <a:avLst/>
          </a:prstGeom>
          <a:noFill/>
          <a:ln/>
        </p:spPr>
        <p:txBody>
          <a:bodyPr wrap="square" lIns="85090" tIns="127508" rIns="8509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R$ 138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4013002" y="3189684"/>
            <a:ext cx="470237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Quase 30 mil clientes representam receita latente não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capturada. Estratégias de reativação via e-mail marketing e cupons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 recuperar este volume sem custo de aquisição (CAC).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7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9797"/>
            <a:ext cx="3536156" cy="1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ESTRUTURAL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LTV</a:t>
            </a:r>
            <a:endParaRPr lang="en-US" sz="2649" dirty="0"/>
          </a:p>
        </p:txBody>
      </p:sp>
      <p:sp>
        <p:nvSpPr>
          <p:cNvPr id="4" name="Text 1"/>
          <p:cNvSpPr/>
          <p:nvPr/>
        </p:nvSpPr>
        <p:spPr>
          <a:xfrm>
            <a:off x="862608" y="2850384"/>
            <a:ext cx="1346597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0-1%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535781" y="3546900"/>
            <a:ext cx="2000250" cy="314325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RETENÇÃO APÓS O 1º MÊS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50531" y="985838"/>
            <a:ext cx="43219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COORTE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50531" y="1328738"/>
            <a:ext cx="4321969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retenção de clientes cai drasticamente logo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 a compra inicial, revelando um mercado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compradores únicos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4250531" y="2323114"/>
            <a:ext cx="43219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SAÚDE DAS CATEGORIAS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50531" y="2666014"/>
            <a:ext cx="4321969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Apesar da baixa retenção, as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10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categorias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mantêm review score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4,0★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indicando uma operação saudável.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4250531" y="3660391"/>
            <a:ext cx="43219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IMPLICAÇÃO DE NEGÓCIO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50531" y="4003291"/>
            <a:ext cx="4321969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e-commerce brasileiro opera com um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 estrutural de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Lifetime Value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exigindo foco constante em aquisição ou </a:t>
            </a:r>
            <a:pPr algn="l" indent="0" marL="0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fidelização.</a:t>
            </a:r>
            <a:endParaRPr lang="en-US" sz="129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31432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RUPTURA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LOGÍSTICA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00075" y="2316221"/>
            <a:ext cx="29718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00075" y="2626975"/>
            <a:ext cx="29718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Classifier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3293129"/>
            <a:ext cx="3143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Aplicação Prática: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Sistema de alerta precoce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identificar pedidos com alto risco de atraso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que a ruptura ocorra.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3857625" y="571500"/>
            <a:ext cx="1671638" cy="1194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4071938" y="785813"/>
            <a:ext cx="1243013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96,7%</a:t>
            </a:r>
            <a:endParaRPr lang="en-US" sz="2862" dirty="0"/>
          </a:p>
        </p:txBody>
      </p:sp>
      <p:sp>
        <p:nvSpPr>
          <p:cNvPr id="9" name="Text 6"/>
          <p:cNvSpPr/>
          <p:nvPr/>
        </p:nvSpPr>
        <p:spPr>
          <a:xfrm>
            <a:off x="4168378" y="1287661"/>
            <a:ext cx="10501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ACURÁCIA GERAL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743575" y="571500"/>
            <a:ext cx="1300163" cy="1194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5957888" y="785813"/>
            <a:ext cx="871538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82%</a:t>
            </a:r>
            <a:endParaRPr lang="en-US" sz="2862" dirty="0"/>
          </a:p>
        </p:txBody>
      </p:sp>
      <p:sp>
        <p:nvSpPr>
          <p:cNvPr id="12" name="Text 9"/>
          <p:cNvSpPr/>
          <p:nvPr/>
        </p:nvSpPr>
        <p:spPr>
          <a:xfrm>
            <a:off x="6092726" y="1287661"/>
            <a:ext cx="6018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6107906" y="1426964"/>
            <a:ext cx="571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(ATRASO)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7258050" y="571500"/>
            <a:ext cx="1314450" cy="1194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2"/>
          <p:cNvSpPr/>
          <p:nvPr/>
        </p:nvSpPr>
        <p:spPr>
          <a:xfrm>
            <a:off x="7472363" y="785813"/>
            <a:ext cx="885825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64%</a:t>
            </a:r>
            <a:endParaRPr lang="en-US" sz="2862" dirty="0"/>
          </a:p>
        </p:txBody>
      </p:sp>
      <p:sp>
        <p:nvSpPr>
          <p:cNvPr id="16" name="Text 13"/>
          <p:cNvSpPr/>
          <p:nvPr/>
        </p:nvSpPr>
        <p:spPr>
          <a:xfrm>
            <a:off x="7687568" y="1287661"/>
            <a:ext cx="4554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7629525" y="1426964"/>
            <a:ext cx="571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(ATRASO)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857625" y="2123480"/>
            <a:ext cx="24735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PRINCIPAL: LEAD TIME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8165306" y="2123480"/>
            <a:ext cx="4071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83,1%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3857625" y="2439591"/>
            <a:ext cx="4714875" cy="28575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3857625" y="2868216"/>
            <a:ext cx="47148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confirma que o ciclo logístico longo é o maior preditor de falhas na entrega.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31432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SATISFAÇÃO DO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00075" y="2316221"/>
            <a:ext cx="29718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00075" y="2626975"/>
            <a:ext cx="29718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Regressor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3293129"/>
            <a:ext cx="3143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Prever o Review Score (1-5★) com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em dados operacionais e logísticos.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3857625" y="571500"/>
            <a:ext cx="1594842" cy="1194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4071938" y="785813"/>
            <a:ext cx="116621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0,878</a:t>
            </a:r>
            <a:endParaRPr lang="en-US" sz="2862" dirty="0"/>
          </a:p>
        </p:txBody>
      </p:sp>
      <p:sp>
        <p:nvSpPr>
          <p:cNvPr id="9" name="Text 6"/>
          <p:cNvSpPr/>
          <p:nvPr/>
        </p:nvSpPr>
        <p:spPr>
          <a:xfrm>
            <a:off x="4080867" y="1287661"/>
            <a:ext cx="114835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(ERRO MÉDIO)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666780" y="571500"/>
            <a:ext cx="1421606" cy="1194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5881092" y="785813"/>
            <a:ext cx="992981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+13%</a:t>
            </a:r>
            <a:endParaRPr lang="en-US" sz="2862" dirty="0"/>
          </a:p>
        </p:txBody>
      </p:sp>
      <p:sp>
        <p:nvSpPr>
          <p:cNvPr id="12" name="Text 9"/>
          <p:cNvSpPr/>
          <p:nvPr/>
        </p:nvSpPr>
        <p:spPr>
          <a:xfrm>
            <a:off x="5989141" y="1287661"/>
            <a:ext cx="7768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BASELINE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7302698" y="571500"/>
            <a:ext cx="1269802" cy="119479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/>
          <p:nvPr/>
        </p:nvSpPr>
        <p:spPr>
          <a:xfrm>
            <a:off x="7517011" y="785813"/>
            <a:ext cx="84117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22%</a:t>
            </a:r>
            <a:endParaRPr lang="en-US" sz="2862" dirty="0"/>
          </a:p>
        </p:txBody>
      </p:sp>
      <p:sp>
        <p:nvSpPr>
          <p:cNvPr id="15" name="Text 12"/>
          <p:cNvSpPr/>
          <p:nvPr/>
        </p:nvSpPr>
        <p:spPr>
          <a:xfrm>
            <a:off x="7872413" y="1287661"/>
            <a:ext cx="1303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R²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558980" y="1426964"/>
            <a:ext cx="7572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(VARIÂNCIA)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857625" y="2423517"/>
            <a:ext cx="4714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VARIÁVEL CRÍTICA: ATRASO EM DIAS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857625" y="2739628"/>
            <a:ext cx="47148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modelo confirma que o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 real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o maior preditor de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insatisfação. O R² de 22% reflete a natureza subjetiva da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satisfação, que depende de fatores externos como a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intrínseca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produto.</a:t>
            </a:r>
            <a:endParaRPr lang="en-US" sz="98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9797"/>
            <a:ext cx="2750344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ROTEIRO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649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ESTRATÉGICO</a:t>
            </a:r>
            <a:endParaRPr lang="en-US" sz="2649" dirty="0"/>
          </a:p>
        </p:txBody>
      </p:sp>
      <p:sp>
        <p:nvSpPr>
          <p:cNvPr id="4" name="Text 1"/>
          <p:cNvSpPr/>
          <p:nvPr/>
        </p:nvSpPr>
        <p:spPr>
          <a:xfrm>
            <a:off x="428625" y="2125656"/>
            <a:ext cx="27503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PRIORIZAÇÃO DE AÇÕES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3464719" y="285750"/>
            <a:ext cx="1543050" cy="225028"/>
          </a:xfrm>
          <a:prstGeom prst="rect">
            <a:avLst/>
          </a:prstGeom>
          <a:solidFill>
            <a:srgbClr val="6200EE"/>
          </a:solidFill>
          <a:ln/>
        </p:spPr>
      </p:sp>
      <p:sp>
        <p:nvSpPr>
          <p:cNvPr id="6" name="Text 3"/>
          <p:cNvSpPr/>
          <p:nvPr/>
        </p:nvSpPr>
        <p:spPr>
          <a:xfrm>
            <a:off x="3464719" y="285750"/>
            <a:ext cx="1543050" cy="225028"/>
          </a:xfrm>
          <a:prstGeom prst="rect">
            <a:avLst/>
          </a:prstGeom>
          <a:noFill/>
          <a:ln/>
        </p:spPr>
        <p:txBody>
          <a:bodyPr wrap="square" lIns="153035" tIns="51054" rIns="153035" bIns="51054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PRIORIDADE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222081" y="457200"/>
            <a:ext cx="335041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Logística NE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222081" y="794742"/>
            <a:ext cx="33504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Reduzir Lead Time para destinos críticos e implantar modelo de alerta de ruptura (ML).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3464719" y="1369089"/>
            <a:ext cx="1593056" cy="225028"/>
          </a:xfrm>
          <a:prstGeom prst="rect">
            <a:avLst/>
          </a:prstGeom>
          <a:solidFill>
            <a:srgbClr val="03DAC6"/>
          </a:solidFill>
          <a:ln/>
        </p:spPr>
      </p:sp>
      <p:sp>
        <p:nvSpPr>
          <p:cNvPr id="10" name="Text 7"/>
          <p:cNvSpPr/>
          <p:nvPr/>
        </p:nvSpPr>
        <p:spPr>
          <a:xfrm>
            <a:off x="3464719" y="1369089"/>
            <a:ext cx="1593056" cy="225028"/>
          </a:xfrm>
          <a:prstGeom prst="rect">
            <a:avLst/>
          </a:prstGeom>
          <a:noFill/>
          <a:ln/>
        </p:spPr>
        <p:txBody>
          <a:bodyPr wrap="square" lIns="153035" tIns="51054" rIns="153035" bIns="51054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 PRIORIDADE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272088" y="1540539"/>
            <a:ext cx="33004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Reativação RFM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272088" y="1878081"/>
            <a:ext cx="33004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Recuperar receita de 29k clientes em risco/perdidos via campanhas de baixo custo.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3464719" y="2452427"/>
            <a:ext cx="1593056" cy="225028"/>
          </a:xfrm>
          <a:prstGeom prst="rect">
            <a:avLst/>
          </a:prstGeom>
          <a:solidFill>
            <a:srgbClr val="03DAC6"/>
          </a:solidFill>
          <a:ln/>
        </p:spPr>
      </p:sp>
      <p:sp>
        <p:nvSpPr>
          <p:cNvPr id="14" name="Text 11"/>
          <p:cNvSpPr/>
          <p:nvPr/>
        </p:nvSpPr>
        <p:spPr>
          <a:xfrm>
            <a:off x="3464719" y="2452427"/>
            <a:ext cx="1593056" cy="225028"/>
          </a:xfrm>
          <a:prstGeom prst="rect">
            <a:avLst/>
          </a:prstGeom>
          <a:noFill/>
          <a:ln/>
        </p:spPr>
        <p:txBody>
          <a:bodyPr wrap="square" lIns="153035" tIns="51054" rIns="153035" bIns="51054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MÉDIA PRIORIDADE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272088" y="2623877"/>
            <a:ext cx="33004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Monitoramento de Frete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272088" y="2961419"/>
            <a:ext cx="33004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Atuar em categorias com frete desproporcional para proteger a margem e satisfação.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3464719" y="3535766"/>
            <a:ext cx="1543050" cy="2250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5"/>
          <p:cNvSpPr/>
          <p:nvPr/>
        </p:nvSpPr>
        <p:spPr>
          <a:xfrm>
            <a:off x="3464719" y="3535766"/>
            <a:ext cx="1543050" cy="225028"/>
          </a:xfrm>
          <a:prstGeom prst="rect">
            <a:avLst/>
          </a:prstGeom>
          <a:noFill/>
          <a:ln/>
        </p:spPr>
        <p:txBody>
          <a:bodyPr wrap="square" lIns="153035" tIns="51054" rIns="153035" bIns="51054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LONGO PRAZO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222081" y="3707216"/>
            <a:ext cx="335041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 de Fidelidade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222081" y="4044758"/>
            <a:ext cx="33504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Implementar estratégias de retenção pós-coorte para elevar o Lifetime Value (LTV).</a:t>
            </a:r>
            <a:endParaRPr lang="en-US" sz="88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9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46392"/>
            <a:ext cx="3471863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6200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GERAL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2440818"/>
            <a:ext cx="3471863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eficiência logística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o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principal driver de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no e-commerce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brasileiro, sendo mais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relevante para a satisfação do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fatores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macroeconômicos como a </a:t>
            </a:r>
            <a:pPr algn="l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inflação.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3900488" y="0"/>
            <a:ext cx="5243513" cy="5229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4329113" y="742950"/>
            <a:ext cx="42433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 TÉCNICOS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329113" y="1351955"/>
            <a:ext cx="2482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755952" y="1351955"/>
            <a:ext cx="38165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Aplicar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SMOTE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balancear a classe de atrasos no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Classificação.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329113" y="1966317"/>
            <a:ext cx="2928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800600" y="1966317"/>
            <a:ext cx="3771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Testar algoritmos de boosting como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LightGBM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melhorar o Recall.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329113" y="2580680"/>
            <a:ext cx="2928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800600" y="2580680"/>
            <a:ext cx="3771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Implementar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GridSearchCV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otimização fina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hiperparâmetros.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329113" y="3195042"/>
            <a:ext cx="3178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825603" y="3195042"/>
            <a:ext cx="37468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de API de scoring em tempo real via 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3DA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+ Joblib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2026-03-17T12:18:00Z</dcterms:created>
  <dcterms:modified xsi:type="dcterms:W3CDTF">2026-03-17T12:18:00Z</dcterms:modified>
</cp:coreProperties>
</file>